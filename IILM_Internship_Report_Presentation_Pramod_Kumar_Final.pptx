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"/>
            <a:ext cx="12191695" cy="64008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502920"/>
            <a:ext cx="24688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61264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C2A4E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621792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2A4E"/>
                </a:solidFill>
                <a:latin typeface="Aptos"/>
              </a:defRPr>
            </a:pPr>
            <a:r>
              <a:t>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88696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707A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F8517"/>
                </a:solidFill>
                <a:latin typeface="Aptos"/>
              </a:defRPr>
            </a:pPr>
            <a:r>
              <a:t>INTERNSHIP REPORT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01952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C2A4E"/>
                </a:solidFill>
                <a:latin typeface="Aptos"/>
              </a:defRPr>
            </a:pPr>
            <a:r>
              <a:t>SIEMENS DATA SCIENCE MASTER</a:t>
            </a:r>
            <a:br/>
            <a:r>
              <a:t>VIRTUAL INTERNSHIP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062A5"/>
                </a:solidFill>
                <a:latin typeface="Aptos"/>
              </a:defRPr>
            </a:pPr>
            <a:r>
              <a:t>AICTE – EduSkills • 8-Week Virtual Internship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730752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707A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730752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PRAMOD KUMAR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087368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707A"/>
                </a:solidFill>
                <a:latin typeface="Aptos"/>
              </a:defRPr>
            </a:pPr>
            <a:r>
              <a:t>Enrollment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87368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2410030367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443983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707A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443983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B.Tech CSE • 5th Semester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800599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707A"/>
                </a:solidFill>
                <a:latin typeface="Aptos"/>
              </a:defRPr>
            </a:pPr>
            <a:r>
              <a:t>Organization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800599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Siemens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5157215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707A"/>
                </a:solidFill>
                <a:latin typeface="Aptos"/>
              </a:defRPr>
            </a:pPr>
            <a:r>
              <a:t>Institute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157215"/>
            <a:ext cx="6217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IILM University, Greater Noida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062A5"/>
                </a:solidFill>
                <a:latin typeface="Aptos"/>
              </a:defRPr>
            </a:pPr>
            <a:r>
              <a:t>College Email: pramod.kumar.cs28@iilm.edu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pic>
        <p:nvPicPr>
          <p:cNvPr id="27" name="Picture 26" descr="10000573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38912"/>
            <a:ext cx="25146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Presentation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173736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AE5F0"/>
                </a:solidFill>
                <a:latin typeface="Aptos"/>
              </a:defRPr>
            </a:pPr>
            <a:r>
              <a:t>Internship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0515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051560"/>
            <a:ext cx="64008" cy="1051560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197863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01  Internship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618488"/>
            <a:ext cx="480060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Programme, duration and purpose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5156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51560"/>
            <a:ext cx="64008" cy="1051560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197863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02  Organization &amp;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618488"/>
            <a:ext cx="480060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Siemens Data Science Master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404872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404872"/>
            <a:ext cx="64008" cy="1051560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55117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03  Objectives &amp;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2971800"/>
            <a:ext cx="480060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Skills and professional outcomes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404872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404872"/>
            <a:ext cx="64008" cy="1051560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55117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04  Internship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971800"/>
            <a:ext cx="480060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Week-wise learning modules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58183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758183"/>
            <a:ext cx="64008" cy="1051560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904487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05  Learning &amp; Activities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325112"/>
            <a:ext cx="480060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Assessments, assignments and practical exposure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758183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758183"/>
            <a:ext cx="64008" cy="1051560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3904487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06  Project / Technical Exposure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325112"/>
            <a:ext cx="480060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Data science workflow covered in the report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111496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5111496"/>
            <a:ext cx="64008" cy="1051560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257800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07  Outcomes &amp; Conclusion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678424"/>
            <a:ext cx="4800600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Skills gained and future scope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20440" y="5486400"/>
            <a:ext cx="51663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20440" y="5486400"/>
            <a:ext cx="64008" cy="749808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30752" y="563270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08  Certificates &amp; Proof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0752" y="6053328"/>
            <a:ext cx="4800600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Completion certificate and offer-letter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1. Internship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173736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AE5F0"/>
                </a:solidFill>
                <a:latin typeface="Aptos"/>
              </a:defRPr>
            </a:pPr>
            <a:r>
              <a:t>Report Section 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4300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143000"/>
            <a:ext cx="64008" cy="4480560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8930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About the Internship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709928"/>
            <a:ext cx="484632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630"/>
                </a:solidFill>
                <a:latin typeface="Aptos"/>
              </a:defRPr>
            </a:pPr>
            <a:r>
              <a:t>The internship was undertaken through the 8-Week AICTE–EduSkills Virtual Internship Program in the Siemens Data Science Master domain.</a:t>
            </a:r>
            <a:br/>
            <a:br/>
            <a:r>
              <a:t>The programme combines structured learning with practical exposure, weekly assessments, project documentation/assignments and a final assessment.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4300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64008" cy="1325880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289304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709928"/>
            <a:ext cx="20574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April 2026 – June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14300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143000"/>
            <a:ext cx="64008" cy="1325880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1289304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1709928"/>
            <a:ext cx="20574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Virtual /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74320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743200"/>
            <a:ext cx="64008" cy="1325880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889504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310128"/>
            <a:ext cx="20574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Data Science Master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743200"/>
            <a:ext cx="24231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15400" y="2743200"/>
            <a:ext cx="64008" cy="1325880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2889504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Credential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3310128"/>
            <a:ext cx="20574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Virtual Internship Certificate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343400"/>
            <a:ext cx="5166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343400"/>
            <a:ext cx="64008" cy="1280160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448970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910328"/>
            <a:ext cx="480060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Weekly assessments • Project submissions • Final Assessment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2. Organization &amp; Internship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173736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AE5F0"/>
                </a:solidFill>
                <a:latin typeface="Aptos"/>
              </a:defRPr>
            </a:pPr>
            <a:r>
              <a:t>Report Section 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43000"/>
            <a:ext cx="5120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143000"/>
            <a:ext cx="64008" cy="4526280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89304"/>
            <a:ext cx="4754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Siemens Data Science 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709928"/>
            <a:ext cx="4754879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630"/>
                </a:solidFill>
                <a:latin typeface="Aptos"/>
              </a:defRPr>
            </a:pPr>
            <a:r>
              <a:t>The internship domain focuses on industry-relevant data science and AI/ML capabilities. The offer letter identifies the domain as “Siemens Data Science Master” and describes a structured, week-wise learning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C2A4E"/>
                </a:solidFill>
                <a:latin typeface="Aptos"/>
              </a:defRPr>
            </a:pPr>
            <a:r>
              <a:t>Key Areas Covered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916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630"/>
                </a:solidFill>
                <a:latin typeface="Aptos"/>
              </a:defRPr>
            </a:pPr>
            <a:r>
              <a:t>• AI and machine learning applications &amp; use cases</a:t>
            </a:r>
          </a:p>
          <a:p>
            <a:pPr>
              <a:spcAft>
                <a:spcPts val="1000"/>
              </a:spcAft>
              <a:defRPr sz="1600">
                <a:solidFill>
                  <a:srgbClr val="1E2630"/>
                </a:solidFill>
                <a:latin typeface="Aptos"/>
              </a:defRPr>
            </a:pPr>
            <a:r>
              <a:t>• Data engineering and data transformation</a:t>
            </a:r>
          </a:p>
          <a:p>
            <a:pPr>
              <a:spcAft>
                <a:spcPts val="1000"/>
              </a:spcAft>
              <a:defRPr sz="1600">
                <a:solidFill>
                  <a:srgbClr val="1E2630"/>
                </a:solidFill>
                <a:latin typeface="Aptos"/>
              </a:defRPr>
            </a:pPr>
            <a:r>
              <a:t>• Machine learning foundations and advanced techniques</a:t>
            </a:r>
          </a:p>
          <a:p>
            <a:pPr>
              <a:spcAft>
                <a:spcPts val="1000"/>
              </a:spcAft>
              <a:defRPr sz="1600">
                <a:solidFill>
                  <a:srgbClr val="1E2630"/>
                </a:solidFill>
                <a:latin typeface="Aptos"/>
              </a:defRPr>
            </a:pPr>
            <a:r>
              <a:t>• Data preparation and automation</a:t>
            </a:r>
          </a:p>
          <a:p>
            <a:pPr>
              <a:spcAft>
                <a:spcPts val="1000"/>
              </a:spcAft>
              <a:defRPr sz="1600">
                <a:solidFill>
                  <a:srgbClr val="1E2630"/>
                </a:solidFill>
                <a:latin typeface="Aptos"/>
              </a:defRPr>
            </a:pPr>
            <a:r>
              <a:t>• Model deployment and monitoring</a:t>
            </a:r>
          </a:p>
          <a:p>
            <a:pPr>
              <a:spcAft>
                <a:spcPts val="1000"/>
              </a:spcAft>
              <a:defRPr sz="1600">
                <a:solidFill>
                  <a:srgbClr val="1E2630"/>
                </a:solidFill>
                <a:latin typeface="Aptos"/>
              </a:defRPr>
            </a:pPr>
            <a:r>
              <a:t>• RapidMiner AI Hub platform administration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3. 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173736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AE5F0"/>
                </a:solidFill>
                <a:latin typeface="Aptos"/>
              </a:defRPr>
            </a:pPr>
            <a:r>
              <a:t>Report Sections 4.3–4.5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097280"/>
            <a:ext cx="5212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097280"/>
            <a:ext cx="64008" cy="4892040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4358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664207"/>
            <a:ext cx="4846320" cy="4178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• Develop industry-relevant data science skills.</a:t>
            </a:r>
            <a:br/>
            <a:r>
              <a:t>• Understand practical AI/ML workflows.</a:t>
            </a:r>
            <a:br/>
            <a:r>
              <a:t>• Learn data access, transformation and preparation.</a:t>
            </a:r>
            <a:br/>
            <a:r>
              <a:t>• Build foundational and advanced ML knowledge.</a:t>
            </a:r>
            <a:br/>
            <a:r>
              <a:t>• Understand deployment, monitoring and platform administration.</a:t>
            </a:r>
            <a:br/>
            <a:r>
              <a:t>• Improve employability through structured assessments and practical exposure.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521208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64008" cy="4892040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24358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664207"/>
            <a:ext cx="4846320" cy="4178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• End-to-end learning across data science stages.</a:t>
            </a:r>
            <a:br/>
            <a:r>
              <a:t>• Exposure to both technical and application-oriented modules.</a:t>
            </a:r>
            <a:br/>
            <a:r>
              <a:t>• Weekly assessments for progress tracking.</a:t>
            </a:r>
            <a:br/>
            <a:r>
              <a:t>• Project documentation and assignments.</a:t>
            </a:r>
            <a:br/>
            <a:r>
              <a:t>• Final assessment for overall programme evaluation.</a:t>
            </a:r>
            <a:br/>
            <a:r>
              <a:t>• Development of a foundation for future data analytics / ML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4. Week-wise Internship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173736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AE5F0"/>
                </a:solidFill>
                <a:latin typeface="Aptos"/>
              </a:defRPr>
            </a:pPr>
            <a:r>
              <a:t>Offer Letter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987552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987552"/>
            <a:ext cx="64008" cy="1078992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133856"/>
            <a:ext cx="4983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Week 1  |  Applications &amp; Use Cases Professional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554480"/>
            <a:ext cx="49834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Identify business problems suitable for AI/ML.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987552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987552"/>
            <a:ext cx="64008" cy="1078992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133856"/>
            <a:ext cx="4983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Week 2  |  Data Engineering Professional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554480"/>
            <a:ext cx="49834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Access, load, transform and calculate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340864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340864"/>
            <a:ext cx="64008" cy="1078992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487168"/>
            <a:ext cx="4983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Week 3  |  Machine Learning Professional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907792"/>
            <a:ext cx="49834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Build foundational machine learning skills.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340864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340864"/>
            <a:ext cx="64008" cy="1078992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487168"/>
            <a:ext cx="4983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Week 4  |  Data Preparation Master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907792"/>
            <a:ext cx="49834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Advanced data handling and automation.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694176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3694176"/>
            <a:ext cx="64008" cy="1078992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840480"/>
            <a:ext cx="4983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Week 5  |  Machine Learning Master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261104"/>
            <a:ext cx="49834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Learn advanced machine learning techniques.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694176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694176"/>
            <a:ext cx="64008" cy="1078992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3840480"/>
            <a:ext cx="4983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Week 6  |  Applications &amp; Use Cases Master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261104"/>
            <a:ext cx="49834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Deploy and monitor ML models.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047488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5047488"/>
            <a:ext cx="64008" cy="1078992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193792"/>
            <a:ext cx="4983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Week 7  |  Platform Administration Master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5614416"/>
            <a:ext cx="49834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Configure and manage RapidMiner AI Hub.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047488"/>
            <a:ext cx="534924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5047488"/>
            <a:ext cx="64008" cy="1078992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5193792"/>
            <a:ext cx="4983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Week 8  |  Platform Administration Master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3952" y="5614416"/>
            <a:ext cx="49834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630"/>
                </a:solidFill>
                <a:latin typeface="Aptos"/>
              </a:defRPr>
            </a:pPr>
            <a:r>
              <a:t>Enterprise-level platform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5. Internship Activities &amp;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051560"/>
            <a:ext cx="10698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051560"/>
            <a:ext cx="64008" cy="786384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197863"/>
            <a:ext cx="10332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Structured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618488"/>
            <a:ext cx="10332719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Completed the week-wise modules provided in the internship programme.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039112"/>
            <a:ext cx="10698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039112"/>
            <a:ext cx="64008" cy="786384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185416"/>
            <a:ext cx="10332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Weekly Assessments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606040"/>
            <a:ext cx="10332719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Progress and understanding were tracked through weekly assessments.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26664"/>
            <a:ext cx="10698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26664"/>
            <a:ext cx="64008" cy="786384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172968"/>
            <a:ext cx="10332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Project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593592"/>
            <a:ext cx="10332719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Certain modules required project documentation and assignments.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14216"/>
            <a:ext cx="10698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014216"/>
            <a:ext cx="64008" cy="786384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160520"/>
            <a:ext cx="10332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Final 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581144"/>
            <a:ext cx="10332719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The final week included a Final Assessment Test.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01768"/>
            <a:ext cx="10698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001768"/>
            <a:ext cx="64008" cy="786384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148072"/>
            <a:ext cx="10332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Overall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5568696"/>
            <a:ext cx="10332719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Final grade considered weekly assessments, project submissions and final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6. Technical Skills &amp; Tools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173736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AE5F0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097280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097280"/>
            <a:ext cx="64008" cy="1261872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435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Data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664207"/>
            <a:ext cx="4800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Data access, loading, transformation, calculation and preparation.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64008" cy="1261872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2435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664207"/>
            <a:ext cx="4800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Foundational and advanced ML concepts and techniques.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697480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697480"/>
            <a:ext cx="64008" cy="1261872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8437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Model 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264408"/>
            <a:ext cx="4800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Deployment and monitoring of machine learning models.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697480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697480"/>
            <a:ext cx="64008" cy="1261872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28437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AI/ML 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3264408"/>
            <a:ext cx="4800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Mapping business problems to suitable AI/ML use cases.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97680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297680"/>
            <a:ext cx="64008" cy="1261872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4439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Platform Skills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864608"/>
            <a:ext cx="4800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RapidMiner AI Hub configuration and administration.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297680"/>
            <a:ext cx="516636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297680"/>
            <a:ext cx="64008" cy="1261872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4439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Professional Skills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8232" y="4864608"/>
            <a:ext cx="480060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Assessment discipline, documentation, practical exposure and employability.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7. Technical Exposure Documented in the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173736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AE5F0"/>
                </a:solidFill>
                <a:latin typeface="Aptos"/>
              </a:defRPr>
            </a:pPr>
            <a:r>
              <a:t>Project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097280"/>
            <a:ext cx="106984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097280"/>
            <a:ext cx="64008" cy="1051560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243584"/>
            <a:ext cx="10332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Project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664207"/>
            <a:ext cx="10332719" cy="33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The report documents practical data-science work as part of the internship experience. The project section applies the learned workflow to a machine-learning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6888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468880"/>
            <a:ext cx="64008" cy="2377440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615184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Data Preparation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035808"/>
            <a:ext cx="29718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Data inspection</a:t>
            </a:r>
            <a:br/>
            <a:r>
              <a:t>Cleaning</a:t>
            </a:r>
            <a:br/>
            <a:r>
              <a:t>Encoding</a:t>
            </a:r>
            <a:br/>
            <a:r>
              <a:t>Scaling</a:t>
            </a:r>
            <a:br/>
            <a:r>
              <a:t>Train-test split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46888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468880"/>
            <a:ext cx="64008" cy="2377440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2615184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Machine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035808"/>
            <a:ext cx="29718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Regression models</a:t>
            </a:r>
            <a:br/>
            <a:r>
              <a:t>Model training</a:t>
            </a:r>
            <a:br/>
            <a:r>
              <a:t>Evaluation metrics</a:t>
            </a:r>
            <a:br/>
            <a:r>
              <a:t>Model comparison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46888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468880"/>
            <a:ext cx="64008" cy="2377440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2615184"/>
            <a:ext cx="2971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3035808"/>
            <a:ext cx="297180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Model evaluation</a:t>
            </a:r>
            <a:br/>
            <a:r>
              <a:t>Performance interpretation</a:t>
            </a:r>
            <a:br/>
            <a:r>
              <a:t>Best-model selection</a:t>
            </a:r>
            <a:br/>
            <a:r>
              <a:t>Technical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C2A4E"/>
                </a:solidFill>
                <a:latin typeface="Aptos"/>
              </a:defRPr>
            </a:pPr>
            <a:r>
              <a:t>This slide is included only as a part of the internship report; the presentation is focused on the overall internship.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8. 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97280"/>
            <a:ext cx="51663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097280"/>
            <a:ext cx="64008" cy="1024128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2435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Outcome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664207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Understanding of an end-to-end data science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51663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97280"/>
            <a:ext cx="64008" cy="1024128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2435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Outcome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664207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Improved knowledge of data engineering and data preparation.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450591"/>
            <a:ext cx="51663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450591"/>
            <a:ext cx="64008" cy="1024128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59689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Outcome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017520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Foundational and advanced machine learning exposure.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450591"/>
            <a:ext cx="51663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450591"/>
            <a:ext cx="64008" cy="1024128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259689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Outcome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017520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Understanding of model deployment and monitoring concepts.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803904"/>
            <a:ext cx="51663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803904"/>
            <a:ext cx="64008" cy="1024128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950208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Outcome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370832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Exposure to RapidMiner AI Hub administration.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803904"/>
            <a:ext cx="51663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803904"/>
            <a:ext cx="64008" cy="1024128"/>
          </a:xfrm>
          <a:prstGeom prst="rect">
            <a:avLst/>
          </a:prstGeom>
          <a:solidFill>
            <a:srgbClr val="12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3950208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Outcome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370832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Experience with structured assessments and technical documentation.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157216"/>
            <a:ext cx="51663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5157216"/>
            <a:ext cx="64008" cy="1024128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303520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Outcome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572414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630"/>
                </a:solidFill>
                <a:latin typeface="Aptos"/>
              </a:defRPr>
            </a:pPr>
            <a:r>
              <a:t>Greater confidence in applying data science concepts to practical problems.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9. Internship Completion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173736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AE5F0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914400"/>
            <a:ext cx="6263640" cy="88563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C2A4E"/>
                </a:solidFill>
                <a:latin typeface="Aptos"/>
              </a:defRPr>
            </a:pPr>
            <a:r>
              <a:t>Student: Pramod Kumar • Enrollment No. 2410030367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10. Internship Offer Letter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173736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AE5F0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9" name="Picture 8" descr="off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14400"/>
            <a:ext cx="5257800" cy="7435471"/>
          </a:xfrm>
          <a:prstGeom prst="rect">
            <a:avLst/>
          </a:prstGeom>
        </p:spPr>
      </p:pic>
      <p:pic>
        <p:nvPicPr>
          <p:cNvPr id="10" name="Picture 9" descr="offer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914400"/>
            <a:ext cx="5257800" cy="74354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8064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C2A4E"/>
                </a:solidFill>
                <a:latin typeface="Aptos"/>
              </a:defRPr>
            </a:pPr>
            <a:r>
              <a:t>Offer letter confirms Siemens Data Science Master • April–June 2026 • 8-week AICTE–EduSkills programme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11. Professional Reflection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64008" cy="4480560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28930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What I Gained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709928"/>
            <a:ext cx="484632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630"/>
                </a:solidFill>
                <a:latin typeface="Aptos"/>
              </a:defRPr>
            </a:pPr>
            <a:r>
              <a:t>• Better understanding of data science as an end-to-end process.</a:t>
            </a:r>
            <a:br/>
            <a:r>
              <a:t>• Exposure to real-world AI/ML use cases.</a:t>
            </a:r>
            <a:br/>
            <a:r>
              <a:t>• Stronger understanding of data preparation and machine learning.</a:t>
            </a:r>
            <a:br/>
            <a:r>
              <a:t>• Awareness of model deployment and monitoring.</a:t>
            </a:r>
            <a:br/>
            <a:r>
              <a:t>• Improved ability to learn through structured assessments and documentation.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64008" cy="4480560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28930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How It Supports My Career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709928"/>
            <a:ext cx="4846320" cy="376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630"/>
                </a:solidFill>
                <a:latin typeface="Aptos"/>
              </a:defRPr>
            </a:pPr>
            <a:r>
              <a:t>The internship provides a foundation for future roles and projects in data analytics, data science and machine learning. The combination of technical modules, assessments and practical exposure helps connect academic learning with industry-oriented skills.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12. 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143000"/>
            <a:ext cx="64008" cy="4434840"/>
          </a:xfrm>
          <a:prstGeom prst="rect">
            <a:avLst/>
          </a:prstGeom>
          <a:solidFill>
            <a:srgbClr val="206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28930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709928"/>
            <a:ext cx="4846320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630"/>
                </a:solidFill>
                <a:latin typeface="Aptos"/>
              </a:defRPr>
            </a:pPr>
            <a:r>
              <a:t>The Siemens Data Science Master Virtual Internship provided a structured 8-week learning journey covering AI/ML applications, data engineering, machine learning, data preparation, deployment and platform administration. The programme strengthened technical understanding through assessments and practical documentation.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64008" cy="4434840"/>
          </a:xfrm>
          <a:prstGeom prst="rect">
            <a:avLst/>
          </a:prstGeom>
          <a:solidFill>
            <a:srgbClr val="EF8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28930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C2A4E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709928"/>
            <a:ext cx="4846320" cy="372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630"/>
                </a:solidFill>
                <a:latin typeface="Aptos"/>
              </a:defRPr>
            </a:pPr>
            <a:r>
              <a:t>• Continue advanced machine learning practice</a:t>
            </a:r>
            <a:br/>
            <a:r>
              <a:t>• Build more end-to-end data science projects</a:t>
            </a:r>
            <a:br/>
            <a:r>
              <a:t>• Explore model deployment and MLOps</a:t>
            </a:r>
            <a:br/>
            <a:r>
              <a:t>• Strengthen data engineering and cloud skills</a:t>
            </a:r>
            <a:br/>
            <a:r>
              <a:t>• Work with larger and real-world datasets</a:t>
            </a:r>
            <a:br/>
            <a:r>
              <a:t>• Pursue industry-oriented certifications and internships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2468880" cy="7132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8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61264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C2A4E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621792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C2A4E"/>
                </a:solidFill>
                <a:latin typeface="Aptos"/>
              </a:defRPr>
            </a:pPr>
            <a:r>
              <a:t>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886968"/>
            <a:ext cx="1554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707A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C2A4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062A5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630"/>
                </a:solidFill>
                <a:latin typeface="Aptos"/>
              </a:defRPr>
            </a:pPr>
            <a:r>
              <a:t>Pramod Kumar • Enrollment No. 2410030367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9651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E2630"/>
                </a:solidFill>
                <a:latin typeface="Aptos"/>
              </a:defRPr>
            </a:pPr>
            <a:r>
              <a:t>B.Tech CSE • 5th Semester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9704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062A5"/>
                </a:solidFill>
                <a:latin typeface="Aptos"/>
              </a:defRPr>
            </a:pPr>
            <a:r>
              <a:t>pramod.kumar.cs28@iilm.edu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C2A4E"/>
                </a:solidFill>
                <a:latin typeface="Aptos"/>
              </a:defRPr>
            </a:pPr>
            <a:r>
              <a:t>IILM University, Greater Noida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29400"/>
            <a:ext cx="9784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ptos"/>
              </a:defRPr>
            </a:pPr>
            <a:r>
              <a:t>IILM University • Internship Report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624828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16" name="Picture 15" descr="10000573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38912"/>
            <a:ext cx="2514600" cy="251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