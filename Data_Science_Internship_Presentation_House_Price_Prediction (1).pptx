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0" y="5394960"/>
            <a:ext cx="12618720" cy="201168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182880" y="5596128"/>
            <a:ext cx="12618720" cy="164592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82880" y="5760720"/>
            <a:ext cx="12618720" cy="118872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960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IILM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548640"/>
            <a:ext cx="1645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777240"/>
            <a:ext cx="1645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00" b="1">
                <a:solidFill>
                  <a:srgbClr val="F58912"/>
                </a:solidFill>
                <a:latin typeface="Aptos"/>
              </a:defRPr>
            </a:pPr>
            <a:r>
              <a:t>GREATER NOIDA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C8D7E8"/>
                </a:solidFill>
                <a:latin typeface="Aptos"/>
              </a:defRPr>
            </a:pPr>
            <a:r>
              <a:t>INTERNSHIP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8961120" cy="1325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House Price Prediction</a:t>
            </a:r>
            <a:br/>
            <a:r>
              <a:t>Using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54680"/>
            <a:ext cx="71323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0">
                <a:solidFill>
                  <a:srgbClr val="DCE6F0"/>
                </a:solidFill>
                <a:latin typeface="Aptos"/>
              </a:defRPr>
            </a:pPr>
            <a:r>
              <a:t>Data Science Master Virtual Internship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886200"/>
            <a:ext cx="4389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PRAMOD KUMAR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297680"/>
            <a:ext cx="5029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DCE6F0"/>
                </a:solidFill>
                <a:latin typeface="Aptos"/>
              </a:defRPr>
            </a:pPr>
            <a:r>
              <a:t>Enrollment / Roll No.: 2410030367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645152"/>
            <a:ext cx="5943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DCE6F0"/>
                </a:solidFill>
                <a:latin typeface="Aptos"/>
              </a:defRPr>
            </a:pPr>
            <a:r>
              <a:t>B.Tech Computer Science &amp; Engineering • 2nd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931920"/>
            <a:ext cx="34747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ptos"/>
              </a:defRPr>
            </a:pPr>
            <a:r>
              <a:t>IILM University, Greater Noida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315968"/>
            <a:ext cx="3840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200" b="0">
                <a:solidFill>
                  <a:srgbClr val="DCE6F0"/>
                </a:solidFill>
                <a:latin typeface="Aptos"/>
              </a:defRPr>
            </a:pPr>
            <a:r>
              <a:t>Organization / Supporting Organization: Siemens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681728"/>
            <a:ext cx="3840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200" b="0">
                <a:solidFill>
                  <a:srgbClr val="DCE6F0"/>
                </a:solidFill>
                <a:latin typeface="Aptos"/>
              </a:defRPr>
            </a:pPr>
            <a:r>
              <a:t>April – June 2026 • 8 Weeks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274A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1417320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31089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PROGRAMME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28800"/>
            <a:ext cx="31089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Data Science Master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31720"/>
            <a:ext cx="3108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8-week virtual internship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47472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64008" cy="1417320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490472"/>
            <a:ext cx="31089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828800"/>
            <a:ext cx="31089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April – June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331720"/>
            <a:ext cx="3108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Structured weekly learning &amp; assessment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347472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64008" cy="1417320"/>
          </a:xfrm>
          <a:prstGeom prst="rect">
            <a:avLst/>
          </a:prstGeom>
          <a:solidFill>
            <a:srgbClr val="10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490472"/>
            <a:ext cx="31089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828800"/>
            <a:ext cx="31089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Siemens Data Science Master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331720"/>
            <a:ext cx="3108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AICTE – EduSkills Virtual Internship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154680"/>
            <a:ext cx="47548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0D274A"/>
                </a:solidFill>
                <a:latin typeface="Aptos"/>
              </a:defRPr>
            </a:pPr>
            <a:r>
              <a:t>Internship Learning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212080" cy="2331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Applications &amp; Use Cases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Data Engineering Professional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Machine Learning Professional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Data Preparation Master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Machine Learning Master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ML Deployment &amp; Monitoring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Platform Administration Master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54680"/>
            <a:ext cx="4389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0D274A"/>
                </a:solidFill>
                <a:latin typeface="Aptos"/>
              </a:defRPr>
            </a:pPr>
            <a:r>
              <a:t>Internship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11880"/>
            <a:ext cx="484632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Internship offer letter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Virtual internship completion certificate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Project implementation: House Price Prediction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Final model comparison and evaluation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t>IILM University • Data Science Master Virtual Internship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D274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274A"/>
                </a:solidFill>
                <a:latin typeface="Aptos Display"/>
              </a:defRPr>
            </a:pPr>
            <a:r>
              <a:t>Problem Statement &amp;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49240" cy="434340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343400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498347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31720"/>
            <a:ext cx="4983479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House prices depend on multiple numerical and categorical factors. Manual estimation becomes difficult when many property attributes must be considered together. The project develops a regression-based machine learning system to predict Price_in_Lakhs from historical Indian housing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325880"/>
            <a:ext cx="4389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0D274A"/>
                </a:solidFill>
                <a:latin typeface="Aptos"/>
              </a:defRPr>
            </a:pPr>
            <a:r>
              <a:t>Key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84632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Prepare and clean a large housing dataset.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Handle missing values and numerical outliers.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Encode categorical features and standardize inputs.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Train and compare six regression models.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Evaluate models using R², MAE and RMSE.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Select the best-performing model for the dataset.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t>IILM University • Data Science Master Virtual Internship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D274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274A"/>
                </a:solidFill>
                <a:latin typeface="Aptos Display"/>
              </a:defRPr>
            </a:pPr>
            <a:r>
              <a:t>Dataset &amp; Data 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256032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64008" cy="1234440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44751"/>
            <a:ext cx="21945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83080"/>
            <a:ext cx="21945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250,000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86000"/>
            <a:ext cx="2194560" cy="91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Original property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280160"/>
            <a:ext cx="256032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280160"/>
            <a:ext cx="64008" cy="1234440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1444751"/>
            <a:ext cx="21945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783080"/>
            <a:ext cx="21945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286000"/>
            <a:ext cx="2194560" cy="91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Original dataset columns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256032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280160"/>
            <a:ext cx="64008" cy="1234440"/>
          </a:xfrm>
          <a:prstGeom prst="rect">
            <a:avLst/>
          </a:prstGeom>
          <a:solidFill>
            <a:srgbClr val="10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444751"/>
            <a:ext cx="21945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783080"/>
            <a:ext cx="21945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Price_in_Lakhs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286000"/>
            <a:ext cx="2194560" cy="91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Regression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280160"/>
            <a:ext cx="256032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280160"/>
            <a:ext cx="64008" cy="1234440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1444751"/>
            <a:ext cx="21945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AFTER IQR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1783080"/>
            <a:ext cx="21945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229,980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2286000"/>
            <a:ext cx="2194560" cy="91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Records after outlier filtering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88920"/>
            <a:ext cx="4572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0D274A"/>
                </a:solidFill>
                <a:latin typeface="Aptos"/>
              </a:defRPr>
            </a:pPr>
            <a:r>
              <a:t>Preprocessing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246120"/>
            <a:ext cx="512064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Dataset inspection using Pandas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Missing-value analysis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Median/mode-based preprocessing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IQR-based numerical outlier removal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Categorical encoding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Feature scaling with StandardScaler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80:20 train-test 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88920"/>
            <a:ext cx="4114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0D274A"/>
                </a:solidFill>
                <a:latin typeface="Aptos"/>
              </a:defRPr>
            </a:pPr>
            <a:r>
              <a:t>Final Split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3246120"/>
            <a:ext cx="45720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3246120"/>
            <a:ext cx="64008" cy="1234440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7" y="3410712"/>
            <a:ext cx="42062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TRAINING 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7" y="3749039"/>
            <a:ext cx="4206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183,984 samples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3407" y="4251960"/>
            <a:ext cx="4206240" cy="91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80% of processed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617720"/>
            <a:ext cx="45720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4617720"/>
            <a:ext cx="64008" cy="1234440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3407" y="4782312"/>
            <a:ext cx="42062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TEST 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7" y="5120640"/>
            <a:ext cx="4206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45,996 samples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7" y="5623560"/>
            <a:ext cx="4206240" cy="91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20% of processed data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t>IILM University • Data Science Master Virtual Internship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D274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274A"/>
                </a:solidFill>
                <a:latin typeface="Aptos Display"/>
              </a:defRPr>
            </a:pPr>
            <a:r>
              <a:t>Machine Learning Architecture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10835640" cy="29982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794760"/>
            <a:ext cx="10058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0">
                <a:solidFill>
                  <a:srgbClr val="69737D"/>
                </a:solidFill>
                <a:latin typeface="Aptos"/>
              </a:defRPr>
            </a:pPr>
            <a:r>
              <a:t>End-to-end workflow: data → preprocessing → model training → evaluation → model selection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526280"/>
            <a:ext cx="32004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526280"/>
            <a:ext cx="64008" cy="1234440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4690872"/>
            <a:ext cx="2834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5029200"/>
            <a:ext cx="28346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Clean + Encode +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5532120"/>
            <a:ext cx="2834640" cy="91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Prepare model-ready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4526280"/>
            <a:ext cx="32004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4526280"/>
            <a:ext cx="64008" cy="1234440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4690872"/>
            <a:ext cx="2834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MODELLING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5029200"/>
            <a:ext cx="28346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6 Regression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5532120"/>
            <a:ext cx="2834640" cy="91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Train and compare algorithms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526280"/>
            <a:ext cx="32004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4526280"/>
            <a:ext cx="64008" cy="1234440"/>
          </a:xfrm>
          <a:prstGeom prst="rect">
            <a:avLst/>
          </a:prstGeom>
          <a:solidFill>
            <a:srgbClr val="10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4690872"/>
            <a:ext cx="28346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5029200"/>
            <a:ext cx="28346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R² + MAE + RMSE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5532120"/>
            <a:ext cx="2834640" cy="91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Select the strongest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t>IILM University • Data Science Master Virtual Internship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D274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274A"/>
                </a:solidFill>
                <a:latin typeface="Aptos Display"/>
              </a:defRPr>
            </a:pPr>
            <a:r>
              <a:t>Machine Learning Models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06324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64008" cy="1417320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2697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Linear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77440"/>
            <a:ext cx="2697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Baseline linear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71600"/>
            <a:ext cx="306324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371600"/>
            <a:ext cx="64008" cy="1417320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536192"/>
            <a:ext cx="2697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Ridge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377440"/>
            <a:ext cx="2697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L2 regularization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371600"/>
            <a:ext cx="306324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1371600"/>
            <a:ext cx="64008" cy="1417320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1536192"/>
            <a:ext cx="2697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Lasso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2377440"/>
            <a:ext cx="2697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L1 regularization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37560"/>
            <a:ext cx="306324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337560"/>
            <a:ext cx="64008" cy="1417320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02152"/>
            <a:ext cx="2697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43400"/>
            <a:ext cx="2697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Tree-based regression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337560"/>
            <a:ext cx="306324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3337560"/>
            <a:ext cx="64008" cy="1417320"/>
          </a:xfrm>
          <a:prstGeom prst="rect">
            <a:avLst/>
          </a:prstGeom>
          <a:solidFill>
            <a:srgbClr val="10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3502152"/>
            <a:ext cx="2697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343400"/>
            <a:ext cx="2697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Ensemble of decision trees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3337560"/>
            <a:ext cx="306324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0" y="3337560"/>
            <a:ext cx="64008" cy="1417320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0688" y="3502152"/>
            <a:ext cx="2697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Gradient Boosting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4343400"/>
            <a:ext cx="2697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Sequential boosting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94960"/>
            <a:ext cx="102412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0">
                <a:solidFill>
                  <a:srgbClr val="69737D"/>
                </a:solidFill>
                <a:latin typeface="Aptos"/>
              </a:defRPr>
            </a:pPr>
            <a:r>
              <a:t>Model selection is based on performance on the held-out test set.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t>IILM University • Data Science Master Virtual Internship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D274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274A"/>
                </a:solidFill>
                <a:latin typeface="Aptos Display"/>
              </a:defRPr>
            </a:pPr>
            <a:r>
              <a:t>Model Performance</a:t>
            </a:r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623560" cy="2811780"/>
          </a:xfrm>
          <a:prstGeom prst="rect">
            <a:avLst/>
          </a:prstGeom>
        </p:spPr>
      </p:pic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440680" cy="27203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0">
                <a:solidFill>
                  <a:srgbClr val="69737D"/>
                </a:solidFill>
                <a:latin typeface="Aptos"/>
              </a:defRPr>
            </a:pPr>
            <a:r>
              <a:t>Higher R² is better • Lower MAE/RMSE is better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t>IILM University • Data Science Master Virtual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D274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C8D7E8"/>
                </a:solidFill>
                <a:latin typeface="Aptos"/>
              </a:defRPr>
            </a:pPr>
            <a:r>
              <a:t>BEST PERFORMING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6400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6400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0">
                <a:solidFill>
                  <a:srgbClr val="DCE6F0"/>
                </a:solidFill>
                <a:latin typeface="Aptos"/>
              </a:defRPr>
            </a:pPr>
            <a:r>
              <a:t>Strongest performance on the recorded test split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51760"/>
            <a:ext cx="315468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651760"/>
            <a:ext cx="64008" cy="1508760"/>
          </a:xfrm>
          <a:prstGeom prst="rect">
            <a:avLst/>
          </a:prstGeom>
          <a:solidFill>
            <a:srgbClr val="10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816352"/>
            <a:ext cx="2788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R²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154680"/>
            <a:ext cx="2788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0.9957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657600"/>
            <a:ext cx="2788920" cy="3657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Highest among tested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651760"/>
            <a:ext cx="315468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2651760"/>
            <a:ext cx="64008" cy="1508760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816352"/>
            <a:ext cx="2788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3154680"/>
            <a:ext cx="2788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7.26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3657600"/>
            <a:ext cx="2788920" cy="3657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Lowest recorded 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651760"/>
            <a:ext cx="315468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26679" y="2651760"/>
            <a:ext cx="64008" cy="1508760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2816352"/>
            <a:ext cx="2788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RMSE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3154680"/>
            <a:ext cx="2788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9.20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3657600"/>
            <a:ext cx="2788920" cy="3657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Lowest recorded RMSE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3657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Why Random Forest?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77724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Captures non-linear relationships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Combines multiple decision trees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Strong predictive performance on this dataset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t>IILM University • Data Science Master Virtual Internship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D274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274A"/>
                </a:solidFill>
                <a:latin typeface="Aptos Display"/>
              </a:defRPr>
            </a:pPr>
            <a:r>
              <a:t>Key Findings &amp; 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572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0D274A"/>
                </a:solidFill>
                <a:latin typeface="Aptos"/>
              </a:defRPr>
            </a:pPr>
            <a:r>
              <a:t>Project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21208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Data preprocessing is essential before model training.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Outlier treatment reduced the dataset to 229,980 records.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Tree-based models performed better than the tested linear baselines.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Random Forest achieved the strongest overall test performance.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Evaluation metrics provide an objective basis for model selection.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4572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0D274A"/>
                </a:solidFill>
                <a:latin typeface="Aptos"/>
              </a:defRPr>
            </a:pPr>
            <a:r>
              <a:t>Skills Developed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84632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Python and Pandas-based data handling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Data cleaning and feature preparation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Machine learning regression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Model evaluation and comparison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Data visualization and result interpretation</a:t>
            </a:r>
          </a:p>
          <a:p>
            <a:pPr>
              <a:spcAft>
                <a:spcPts val="1000"/>
              </a:spcAft>
              <a:defRPr sz="1500">
                <a:solidFill>
                  <a:srgbClr val="1E2630"/>
                </a:solidFill>
                <a:latin typeface="Aptos"/>
              </a:defRPr>
            </a:pPr>
            <a:r>
              <a:t>• Technical documentation and 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t>IILM University • Data Science Master Virtual Internship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D274A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274A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38328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1325880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28800"/>
            <a:ext cx="3017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Web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31720"/>
            <a:ext cx="3017520" cy="1828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Allow users to enter property details and receive predictions.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38328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64008" cy="1325880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490472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28800"/>
            <a:ext cx="3017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Hyperparameter 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31720"/>
            <a:ext cx="3017520" cy="1828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Improve generalization and model robustness.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338328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64008" cy="1325880"/>
          </a:xfrm>
          <a:prstGeom prst="rect">
            <a:avLst/>
          </a:prstGeom>
          <a:solidFill>
            <a:srgbClr val="10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490472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EXPLAINABILITY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828800"/>
            <a:ext cx="3017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Explainable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331720"/>
            <a:ext cx="3017520" cy="1828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Show which property features influence predictions.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63240"/>
            <a:ext cx="338328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063240"/>
            <a:ext cx="64008" cy="1325880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227832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LIVE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566160"/>
            <a:ext cx="3017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Data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069080"/>
            <a:ext cx="3017520" cy="1828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Use updated real-estate datasets for continuous improvement.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063240"/>
            <a:ext cx="338328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3063240"/>
            <a:ext cx="64008" cy="1325880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0288" y="3227832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3566160"/>
            <a:ext cx="3017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Model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4069080"/>
            <a:ext cx="3017520" cy="1828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Track drift and prediction quality after deployment.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063240"/>
            <a:ext cx="338328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3063240"/>
            <a:ext cx="64008" cy="1325880"/>
          </a:xfrm>
          <a:prstGeom prst="rect">
            <a:avLst/>
          </a:prstGeom>
          <a:solidFill>
            <a:srgbClr val="10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3227832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  <a:latin typeface="Aptos"/>
              </a:defRPr>
            </a:pPr>
            <a:r>
              <a:t>UX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3566160"/>
            <a:ext cx="3017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200" b="1">
                <a:solidFill>
                  <a:srgbClr val="0D274A"/>
                </a:solidFill>
                <a:latin typeface="Aptos"/>
              </a:defRPr>
            </a:pPr>
            <a:r>
              <a:t>User-Friendly Interface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4069080"/>
            <a:ext cx="3017520" cy="1828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Build a simple interface for practical use.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166360"/>
            <a:ext cx="102412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700" b="1">
                <a:solidFill>
                  <a:srgbClr val="0D274A"/>
                </a:solidFill>
                <a:latin typeface="Aptos"/>
              </a:defRPr>
            </a:pPr>
            <a:r>
              <a:t>The current project provides a strong foundation for a deployable house-price prediction system.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t>IILM University • Data Science Master Virtual Internship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D274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1C5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274A"/>
                </a:solidFill>
                <a:latin typeface="Aptos Display"/>
              </a:defRPr>
            </a:pPr>
            <a:r>
              <a:t>Internship Evidence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166360" cy="7304912"/>
          </a:xfrm>
          <a:prstGeom prst="rect">
            <a:avLst/>
          </a:prstGeom>
        </p:spPr>
      </p:pic>
      <p:pic>
        <p:nvPicPr>
          <p:cNvPr id="7" name="Picture 6" descr="offer_letter_p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34440"/>
            <a:ext cx="5394960" cy="76302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97880"/>
            <a:ext cx="5029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1">
                <a:solidFill>
                  <a:srgbClr val="0D274A"/>
                </a:solidFill>
                <a:latin typeface="Aptos"/>
              </a:defRPr>
            </a:pPr>
            <a:r>
              <a:t>Completion Certificate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897880"/>
            <a:ext cx="5029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1">
                <a:solidFill>
                  <a:srgbClr val="0D274A"/>
                </a:solidFill>
                <a:latin typeface="Aptos"/>
              </a:defRPr>
            </a:pPr>
            <a:r>
              <a:t>Internship Offer Letter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t>IILM University • Data Science Master Virtual Internship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D274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960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IILM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40080"/>
            <a:ext cx="1645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868680"/>
            <a:ext cx="16459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00" b="1">
                <a:solidFill>
                  <a:srgbClr val="F58912"/>
                </a:solidFill>
                <a:latin typeface="Aptos"/>
              </a:defRPr>
            </a:pPr>
            <a:r>
              <a:t>GREATER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99669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000" b="0">
                <a:solidFill>
                  <a:srgbClr val="DCE6F0"/>
                </a:solidFill>
                <a:latin typeface="Aptos"/>
              </a:defRPr>
            </a:pPr>
            <a:r>
              <a:t>House Price Prediction Using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99669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PRAMOD KUMAR • Roll No. 2410030367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86200"/>
            <a:ext cx="99669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0">
                <a:solidFill>
                  <a:srgbClr val="DCE6F0"/>
                </a:solidFill>
                <a:latin typeface="Aptos"/>
              </a:defRPr>
            </a:pPr>
            <a:r>
              <a:t>pramod.kumar.cs28@iilm.edu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99669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0">
                <a:solidFill>
                  <a:srgbClr val="DCE6F0"/>
                </a:solidFill>
                <a:latin typeface="Aptos"/>
              </a:defRPr>
            </a:pPr>
            <a:r>
              <a:t>IILM University, Greater Noida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99669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300" b="0">
                <a:solidFill>
                  <a:srgbClr val="DCE6F0"/>
                </a:solidFill>
                <a:latin typeface="Aptos"/>
              </a:defRPr>
            </a:pPr>
            <a:r>
              <a:t>Data Science Master Virtual Internship • April –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